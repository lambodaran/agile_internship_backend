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4"/>
  </p:sldMasterIdLst>
  <p:notesMasterIdLst>
    <p:notesMasterId r:id="rId10"/>
  </p:notesMasterIdLst>
  <p:handoutMasterIdLst>
    <p:handoutMasterId r:id="rId11"/>
  </p:handoutMasterIdLst>
  <p:sldIdLst>
    <p:sldId id="272" r:id="rId5"/>
    <p:sldId id="257" r:id="rId6"/>
    <p:sldId id="275" r:id="rId7"/>
    <p:sldId id="276" r:id="rId8"/>
    <p:sldId id="277" r:id="rId9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2" autoAdjust="0"/>
    <p:restoredTop sz="93202" autoAdjust="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9936EA-76EA-4221-8F79-E7A85217C7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B2721-330D-446A-8732-9A69CC39DB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B22D71-1808-4344-87CE-430991802E00}" type="datetime1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CC218-3D7F-4C82-93BF-E6D7A30D04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08813-25C8-4783-86F8-C303C23D23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F476CCE-055B-4338-9905-78081F969A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584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9EB1013-B844-4C0F-97B0-CCBD764609D3}" type="datetime1">
              <a:rPr lang="en-GB" noProof="0" smtClean="0"/>
              <a:t>07/11/2025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42455A-0D23-4EAB-9AF9-2CC2B3066B0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842455A-0D23-4EAB-9AF9-2CC2B3066B0A}" type="slidenum">
              <a:rPr lang="en-GB" noProof="1" smtClean="0"/>
              <a:t>1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557331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338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40080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18981"/>
            <a:ext cx="7537703" cy="2462667"/>
          </a:xfrm>
          <a:solidFill>
            <a:schemeClr val="bg1">
              <a:alpha val="93000"/>
            </a:schemeClr>
          </a:solidFill>
        </p:spPr>
        <p:txBody>
          <a:bodyPr lIns="822960" tIns="731520" rtlCol="0" anchor="t" anchorCtr="0">
            <a:normAutofit/>
          </a:bodyPr>
          <a:lstStyle/>
          <a:p>
            <a:pPr rtl="0"/>
            <a:r>
              <a:rPr lang="en-US" sz="5400" noProof="0">
                <a:solidFill>
                  <a:schemeClr val="tx1"/>
                </a:solidFill>
              </a:rPr>
              <a:t>Click to edit Master title style</a:t>
            </a:r>
            <a:endParaRPr lang="en-GB" sz="5400" noProof="0">
              <a:solidFill>
                <a:schemeClr val="tx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DF17D8-A326-44D6-A77D-42DA99E92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841" y="4735799"/>
            <a:ext cx="6470693" cy="605256"/>
          </a:xfrm>
        </p:spPr>
        <p:txBody>
          <a:bodyPr rtlCol="0"/>
          <a:lstStyle/>
          <a:p>
            <a:pPr rtl="0"/>
            <a:r>
              <a:rPr lang="en-US" noProof="0">
                <a:solidFill>
                  <a:schemeClr val="tx1"/>
                </a:solidFill>
              </a:rPr>
              <a:t>Click to edit Master subtitle style</a:t>
            </a:r>
            <a:endParaRPr lang="en-GB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679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34A642-8E00-4F15-9BE5-FED7F68AA98B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018FF3-9740-4BA5-8515-EBFCC6232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48600" y="643467"/>
            <a:ext cx="3635926" cy="5113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EFBB5-382E-4634-9782-68859DEE1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173792" y="2660530"/>
            <a:ext cx="29260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CE069499-3ED9-4F5B-ADC9-5EBFC522E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1400" y="1118014"/>
            <a:ext cx="3379080" cy="145075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52F90-8192-445D-854C-F144C7CFAC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080" y="640080"/>
            <a:ext cx="3273552" cy="2395728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51433AC9-3FFE-4C0D-A905-A0CB48FB81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51960" y="640080"/>
            <a:ext cx="3273552" cy="2395728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5054A368-7C94-4623-8670-651AAB51F2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080" y="3364992"/>
            <a:ext cx="3273552" cy="2395728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04D3A3D1-400C-4822-B959-96FF1469FD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1960" y="3364992"/>
            <a:ext cx="3273552" cy="2395728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B04F02-660E-4770-B563-1D977AFF4C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86408" y="2789067"/>
            <a:ext cx="3176587" cy="270668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377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3557016" cy="3760891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A40EF35-BB21-4D3F-A9D6-2A92BFD0DD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74336" y="2112264"/>
            <a:ext cx="3035808" cy="183794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7CE5DD4-B27E-482B-8208-FA5A7BBC9A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4336" y="4032504"/>
            <a:ext cx="3035808" cy="183794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F796570-D07C-4638-8B80-227A6EF1A0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0728" y="2112264"/>
            <a:ext cx="3035808" cy="375818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2552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Tag=AccentColor&#10;Flavor=Dark&#10;Target=Fill">
            <a:extLst>
              <a:ext uri="{FF2B5EF4-FFF2-40B4-BE49-F238E27FC236}">
                <a16:creationId xmlns:a16="http://schemas.microsoft.com/office/drawing/2014/main" id="{17DBCCDB-B58C-45B3-9E63-49F7B0819260}"/>
              </a:ext>
            </a:extLst>
          </p:cNvPr>
          <p:cNvSpPr/>
          <p:nvPr userDrawn="1"/>
        </p:nvSpPr>
        <p:spPr bwMode="white">
          <a:xfrm>
            <a:off x="0" y="4953000"/>
            <a:ext cx="12192000" cy="1905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B1649E-A273-4C2E-A9F2-D29871865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sz="3600" noProof="0">
                <a:solidFill>
                  <a:schemeClr val="bg1"/>
                </a:solidFill>
              </a:rPr>
              <a:t>Click to edit Master title style</a:t>
            </a:r>
            <a:endParaRPr lang="en-GB" sz="3600" noProof="0">
              <a:solidFill>
                <a:schemeClr val="bg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72A6B42-C371-4562-8E40-9EE1906C8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sz="1500" noProof="0">
                <a:solidFill>
                  <a:schemeClr val="bg1"/>
                </a:solidFill>
              </a:rPr>
              <a:t>Click to edit Master subtitle style</a:t>
            </a:r>
            <a:endParaRPr lang="en-GB" sz="1500" noProof="0">
              <a:solidFill>
                <a:schemeClr val="bg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8504FFB-1664-4F66-BC31-100C8DD983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640080"/>
            <a:ext cx="3544888" cy="393192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B45578D-1855-4EC0-9E45-E1630D11AC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43400" y="640080"/>
            <a:ext cx="3544888" cy="393192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93482C2-6151-4050-9F16-9952B0A017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8432" y="640080"/>
            <a:ext cx="3544888" cy="393192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6839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8720" y="2313432"/>
            <a:ext cx="9966960" cy="3670837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5178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9B458E-5354-42D4-AE10-8B2F796C3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 rtlCol="0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B121E21-6D9B-46D0-957E-760B095BA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 rtlCol="0"/>
          <a:lstStyle/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51B24F-7663-45C0-BE23-CD0AEFF51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5ABBAD1-553F-4CC1-AB36-7C1BE5089D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938" y="640080"/>
            <a:ext cx="5449824" cy="274320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06EA1F-5BD5-4FE5-A059-6787DADCB5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080" y="3474720"/>
            <a:ext cx="5449824" cy="274320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9468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8720" y="2463495"/>
            <a:ext cx="9966960" cy="3368653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2759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1191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872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8720" y="2958274"/>
            <a:ext cx="4639736" cy="2910821"/>
          </a:xfrm>
        </p:spPr>
        <p:txBody>
          <a:bodyPr rtlCol="0"/>
          <a:lstStyle>
            <a:lvl1pPr marL="342900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>
            <a:lvl1pPr marL="342900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18288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822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8720" y="2057400"/>
            <a:ext cx="3200400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8720" y="2958274"/>
            <a:ext cx="3200400" cy="2910821"/>
          </a:xfrm>
        </p:spPr>
        <p:txBody>
          <a:bodyPr rtlCol="0"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2051331"/>
            <a:ext cx="3200400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952204"/>
            <a:ext cx="3200400" cy="2910821"/>
          </a:xfrm>
        </p:spPr>
        <p:txBody>
          <a:bodyPr rtlCol="0"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721C62B-6826-4C4A-B41E-814C63BA51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55280" y="2057400"/>
            <a:ext cx="3200400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9F5CD2DF-69E0-48BA-AFAC-83EFCE2ACC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80" y="2958273"/>
            <a:ext cx="3200400" cy="2910821"/>
          </a:xfrm>
        </p:spPr>
        <p:txBody>
          <a:bodyPr rtlCol="0"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3351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E592754-9FDD-4637-8931-8898DCEA2DAF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DE7C46-EBCB-4558-B868-C6E743BAE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DD7626-E6F6-463F-8041-E2EC3283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648" y="1419273"/>
            <a:ext cx="3153580" cy="1358188"/>
          </a:xfrm>
        </p:spPr>
        <p:txBody>
          <a:bodyPr rtlCol="0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sz="3600" noProof="0">
                <a:solidFill>
                  <a:schemeClr val="tx1"/>
                </a:solidFill>
              </a:rPr>
              <a:t>Click to edit Master title style</a:t>
            </a:r>
            <a:endParaRPr lang="en-GB" sz="3600" noProof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4A9276-3942-47EA-B16C-FEF66FB6F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128" y="2865016"/>
            <a:ext cx="29260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11DABEC-17D7-4DA3-9DEA-F5D74509D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48" y="2978254"/>
            <a:ext cx="3153580" cy="2444238"/>
          </a:xfrm>
        </p:spPr>
        <p:txBody>
          <a:bodyPr lIns="9144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rtl="0">
              <a:lnSpc>
                <a:spcPct val="100000"/>
              </a:lnSpc>
              <a:buNone/>
            </a:pPr>
            <a:r>
              <a:rPr lang="en-US" sz="16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A5B6691-D26A-472B-BB73-55A4E0649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2584" y="1234440"/>
            <a:ext cx="3264408" cy="435254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F1FB629-3697-40BE-A9E2-962CC86418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75320" y="1234440"/>
            <a:ext cx="3264408" cy="435254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27269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E322D5-1CC3-400A-A187-55543F0E8B93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rtlCol="0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407436"/>
            <a:ext cx="3690257" cy="3461658"/>
          </a:xfrm>
        </p:spPr>
        <p:txBody>
          <a:bodyPr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31521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810136-7130-4D10-A77D-0A7BA878209B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26311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8720" y="2120900"/>
            <a:ext cx="4639736" cy="3748193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26755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D637E5-EBAC-4C88-BDAB-D589FAE7B950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75667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7128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r>
              <a:rPr lang="en-GB" noProof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836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8720" y="2108201"/>
            <a:ext cx="996696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57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6" r:id="rId3"/>
    <p:sldLayoutId id="2147483735" r:id="rId4"/>
    <p:sldLayoutId id="2147483722" r:id="rId5"/>
    <p:sldLayoutId id="2147483734" r:id="rId6"/>
    <p:sldLayoutId id="2147483745" r:id="rId7"/>
    <p:sldLayoutId id="2147483726" r:id="rId8"/>
    <p:sldLayoutId id="2147483725" r:id="rId9"/>
    <p:sldLayoutId id="2147483743" r:id="rId10"/>
    <p:sldLayoutId id="2147483737" r:id="rId11"/>
    <p:sldLayoutId id="2147483738" r:id="rId12"/>
    <p:sldLayoutId id="2147483723" r:id="rId13"/>
    <p:sldLayoutId id="2147483724" r:id="rId14"/>
    <p:sldLayoutId id="2147483727" r:id="rId15"/>
    <p:sldLayoutId id="2147483728" r:id="rId16"/>
    <p:sldLayoutId id="2147483729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559F58-E7E3-4312-BFB5-D3B5719E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9999" y="-583633"/>
            <a:ext cx="4813072" cy="3494791"/>
          </a:xfrm>
        </p:spPr>
        <p:txBody>
          <a:bodyPr rtlCol="0" anchor="b">
            <a:normAutofit/>
          </a:bodyPr>
          <a:lstStyle/>
          <a:p>
            <a:pPr rtl="0"/>
            <a:r>
              <a:rPr lang="en-GB" sz="4000" b="1" dirty="0"/>
              <a:t>Undergraduate Project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502785-6557-4038-9743-2ABFF39CB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5249" y="2998296"/>
            <a:ext cx="4829101" cy="1211754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Name: U.Anojan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SLIIT Northern Uni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5FF348E-C446-4450-8262-D18488C886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3708" r="3" b="10886"/>
          <a:stretch>
            <a:fillRect/>
          </a:stretch>
        </p:blipFill>
        <p:spPr>
          <a:xfrm>
            <a:off x="642938" y="640080"/>
            <a:ext cx="5449824" cy="2743200"/>
          </a:xfrm>
          <a:noFill/>
        </p:spPr>
      </p:pic>
      <p:pic>
        <p:nvPicPr>
          <p:cNvPr id="3" name="Picture Placeholder 2" descr="A pile of red peppers&#10;&#10;AI-generated content may be incorrect.">
            <a:extLst>
              <a:ext uri="{FF2B5EF4-FFF2-40B4-BE49-F238E27FC236}">
                <a16:creationId xmlns:a16="http://schemas.microsoft.com/office/drawing/2014/main" id="{B32259B1-CD00-B1D1-38CF-1B87F68FAD6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12249" b="12249"/>
          <a:stretch>
            <a:fillRect/>
          </a:stretch>
        </p:blipFill>
        <p:spPr>
          <a:xfrm>
            <a:off x="639763" y="3475038"/>
            <a:ext cx="5449887" cy="2743200"/>
          </a:xfrm>
        </p:spPr>
      </p:pic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831207D0-1ABB-BFFE-CE87-4F29D649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n-GB" noProof="0"/>
              <a:t>Sample Footer Text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95C40910-E3EC-B22A-6270-A8DC36A4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n-GB" noProof="0"/>
              <a:t>20XX</a:t>
            </a:r>
          </a:p>
        </p:txBody>
      </p:sp>
      <p:sp>
        <p:nvSpPr>
          <p:cNvPr id="19" name="Slide Number Placeholder 7">
            <a:extLst>
              <a:ext uri="{FF2B5EF4-FFF2-40B4-BE49-F238E27FC236}">
                <a16:creationId xmlns:a16="http://schemas.microsoft.com/office/drawing/2014/main" id="{350D2C69-7776-567C-C9B6-B5BEF3ED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3A98EE3D-8CD1-4C3F-BD1C-C98C9596463C}" type="slidenum">
              <a:rPr lang="en-GB" noProof="0" smtClean="0"/>
              <a:pPr rtl="0">
                <a:spcAft>
                  <a:spcPts val="600"/>
                </a:spcAft>
              </a:pPr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669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F02B50CE-D4E4-8211-9A89-49D0CCA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00106"/>
            <a:ext cx="10058400" cy="1450757"/>
          </a:xfrm>
        </p:spPr>
        <p:txBody>
          <a:bodyPr>
            <a:noAutofit/>
          </a:bodyPr>
          <a:lstStyle/>
          <a:p>
            <a:r>
              <a:rPr lang="en-GB" sz="3600" dirty="0"/>
              <a:t>Early Prediction of Aflatoxin Contamination in Red Chili Using ML</a:t>
            </a:r>
            <a:endParaRPr lang="en-US" sz="3600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011F41C-F343-402F-840A-70C98C30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/>
              <a:t>Sample Footer Text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5DF7CD3-0A75-4DF4-8D0D-D9476E84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/>
              <a:t>20XX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2077A5E-18AF-4957-9966-6DBE3C4A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3A98EE3D-8CD1-4C3F-BD1C-C98C9596463C}" type="slidenum">
              <a:rPr lang="en-GB" smtClean="0"/>
              <a:pPr rtl="0">
                <a:spcAft>
                  <a:spcPts val="600"/>
                </a:spcAft>
              </a:pPr>
              <a:t>2</a:t>
            </a:fld>
            <a:endParaRPr lang="en-GB"/>
          </a:p>
        </p:txBody>
      </p:sp>
      <p:pic>
        <p:nvPicPr>
          <p:cNvPr id="26" name="Picture 25" descr="A pile of red peppers&#10;&#10;AI-generated content may be incorrect.">
            <a:extLst>
              <a:ext uri="{FF2B5EF4-FFF2-40B4-BE49-F238E27FC236}">
                <a16:creationId xmlns:a16="http://schemas.microsoft.com/office/drawing/2014/main" id="{0B2DC91E-0F00-4801-D56E-85627DE5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048" y="2141837"/>
            <a:ext cx="4243632" cy="28290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E4B733A-D6A0-DD05-DCAD-C48E7C493E2F}"/>
              </a:ext>
            </a:extLst>
          </p:cNvPr>
          <p:cNvSpPr txBox="1"/>
          <p:nvPr/>
        </p:nvSpPr>
        <p:spPr>
          <a:xfrm>
            <a:off x="1097279" y="2461132"/>
            <a:ext cx="573532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Why This Project?</a:t>
            </a:r>
          </a:p>
          <a:p>
            <a:br>
              <a:rPr lang="en-GB" dirty="0"/>
            </a:br>
            <a:r>
              <a:rPr lang="en-GB" sz="1400" dirty="0"/>
              <a:t>• Aflatoxin: </a:t>
            </a:r>
            <a:r>
              <a:rPr lang="en-GB" sz="1400" b="1" dirty="0"/>
              <a:t>Invisible, toxic substance produced by fungi</a:t>
            </a:r>
            <a:r>
              <a:rPr lang="en-GB" sz="1400" dirty="0"/>
              <a:t>.</a:t>
            </a:r>
          </a:p>
          <a:p>
            <a:br>
              <a:rPr lang="en-GB" sz="1400" dirty="0"/>
            </a:br>
            <a:r>
              <a:rPr lang="en-GB" sz="1400" dirty="0"/>
              <a:t>• Causes </a:t>
            </a:r>
            <a:r>
              <a:rPr lang="en-GB" sz="1400" b="1" dirty="0"/>
              <a:t>serious health risks</a:t>
            </a:r>
            <a:r>
              <a:rPr lang="en-GB" sz="1400" dirty="0"/>
              <a:t> (liver damage, cancer).</a:t>
            </a:r>
          </a:p>
          <a:p>
            <a:br>
              <a:rPr lang="en-GB" sz="1400" dirty="0"/>
            </a:br>
            <a:r>
              <a:rPr lang="en-GB" sz="1400" dirty="0"/>
              <a:t>• Traditional detection (ELISA/HPLC) is </a:t>
            </a:r>
            <a:r>
              <a:rPr lang="en-GB" sz="1400" b="1" dirty="0"/>
              <a:t>expensive and lab-dependent</a:t>
            </a:r>
            <a:r>
              <a:rPr lang="en-GB" sz="1400" dirty="0"/>
              <a:t>.</a:t>
            </a:r>
          </a:p>
          <a:p>
            <a:br>
              <a:rPr lang="en-GB" sz="1400" dirty="0"/>
            </a:br>
            <a:r>
              <a:rPr lang="en-GB" sz="1400" dirty="0"/>
              <a:t>• Need for </a:t>
            </a:r>
            <a:r>
              <a:rPr lang="en-GB" sz="1400" b="1" dirty="0"/>
              <a:t>early, low-cost, practical detection</a:t>
            </a:r>
            <a:r>
              <a:rPr lang="en-GB" sz="1400" dirty="0"/>
              <a:t>.</a:t>
            </a:r>
          </a:p>
          <a:p>
            <a:br>
              <a:rPr lang="en-GB" sz="1400" dirty="0"/>
            </a:br>
            <a:r>
              <a:rPr lang="en-GB" sz="1400" dirty="0"/>
              <a:t>•Goal: Predict aflatoxin risk using </a:t>
            </a:r>
            <a:r>
              <a:rPr lang="en-GB" sz="1400" b="1" dirty="0"/>
              <a:t>measurable factors</a:t>
            </a:r>
            <a:r>
              <a:rPr lang="en-GB" sz="1400" dirty="0"/>
              <a:t> and </a:t>
            </a:r>
            <a:r>
              <a:rPr lang="en-GB" sz="1400" b="1" dirty="0"/>
              <a:t>mobile application</a:t>
            </a:r>
            <a:r>
              <a:rPr lang="en-GB" sz="1400" dirty="0"/>
              <a:t> for real-world use</a:t>
            </a:r>
          </a:p>
        </p:txBody>
      </p:sp>
    </p:spTree>
    <p:extLst>
      <p:ext uri="{BB962C8B-B14F-4D97-AF65-F5344CB8AC3E}">
        <p14:creationId xmlns:p14="http://schemas.microsoft.com/office/powerpoint/2010/main" val="223339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9C96-32C5-9EF2-DC24-E24D649D6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This Approach &amp; Factors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827B4-FA7E-A830-3770-89D911FA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5D804-857B-CB38-D729-854A9DA9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53F04-566C-C4D2-31C2-7F1AA07D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t>3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F520B-A27D-B17E-F8D4-1EBC8AE3E859}"/>
              </a:ext>
            </a:extLst>
          </p:cNvPr>
          <p:cNvSpPr txBox="1"/>
          <p:nvPr/>
        </p:nvSpPr>
        <p:spPr>
          <a:xfrm>
            <a:off x="1097279" y="2065867"/>
            <a:ext cx="92997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Why Not Images?</a:t>
            </a:r>
          </a:p>
          <a:p>
            <a:br>
              <a:rPr lang="en-GB" sz="1400" dirty="0"/>
            </a:br>
            <a:r>
              <a:rPr lang="en-GB" sz="1400" dirty="0"/>
              <a:t>• Aflatoxin is </a:t>
            </a:r>
            <a:r>
              <a:rPr lang="en-GB" sz="1400" b="1" dirty="0"/>
              <a:t>invisible to the naked eye</a:t>
            </a:r>
            <a:r>
              <a:rPr lang="en-GB" sz="1400" dirty="0"/>
              <a:t>.</a:t>
            </a:r>
          </a:p>
          <a:p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b="1" dirty="0"/>
              <a:t>Image-based ML cannot reliably detect</a:t>
            </a:r>
            <a:r>
              <a:rPr lang="en-GB" sz="1400" dirty="0"/>
              <a:t> contamination.</a:t>
            </a:r>
          </a:p>
          <a:p>
            <a:br>
              <a:rPr lang="en-GB" sz="1400" dirty="0"/>
            </a:br>
            <a:r>
              <a:rPr lang="en-GB" sz="1400" dirty="0"/>
              <a:t>• Solution: Predict </a:t>
            </a:r>
            <a:r>
              <a:rPr lang="en-GB" sz="1400" b="1" dirty="0"/>
              <a:t>risk using measurable factors</a:t>
            </a:r>
            <a:r>
              <a:rPr lang="en-GB" sz="1400" dirty="0"/>
              <a:t>.</a:t>
            </a:r>
            <a:br>
              <a:rPr lang="en-GB" sz="1400" dirty="0"/>
            </a:br>
            <a:br>
              <a:rPr lang="en-GB" sz="1400" dirty="0"/>
            </a:br>
            <a:r>
              <a:rPr lang="en-GB" sz="1400" b="1" dirty="0"/>
              <a:t>Input Factors for Prediction:</a:t>
            </a:r>
          </a:p>
          <a:p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b="1" dirty="0"/>
              <a:t>Moisture Content</a:t>
            </a:r>
            <a:r>
              <a:rPr lang="en-GB" sz="1400" dirty="0"/>
              <a:t> – High moisture promotes fungal growth</a:t>
            </a:r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b="1" dirty="0"/>
              <a:t>Temperature</a:t>
            </a:r>
            <a:r>
              <a:rPr lang="en-GB" sz="1400" dirty="0"/>
              <a:t> – Warm storage increases risk</a:t>
            </a:r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b="1" dirty="0"/>
              <a:t>Humidity</a:t>
            </a:r>
            <a:r>
              <a:rPr lang="en-GB" sz="1400" dirty="0"/>
              <a:t> – Influences fungal activity</a:t>
            </a:r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b="1" dirty="0"/>
              <a:t>pH Value</a:t>
            </a:r>
            <a:r>
              <a:rPr lang="en-GB" sz="1400" dirty="0"/>
              <a:t> – Certain levels favor fungi</a:t>
            </a:r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b="1" dirty="0"/>
              <a:t>Water Activity (aw)</a:t>
            </a:r>
            <a:r>
              <a:rPr lang="en-GB" sz="1400" dirty="0"/>
              <a:t> – Free water available for microbial growth</a:t>
            </a:r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b="1" dirty="0"/>
              <a:t>Color Intensity</a:t>
            </a:r>
            <a:r>
              <a:rPr lang="en-GB" sz="1400" dirty="0"/>
              <a:t> – Slight changes may indicate spoilage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These factors are </a:t>
            </a:r>
            <a:r>
              <a:rPr lang="en-GB" sz="1400" b="1" dirty="0"/>
              <a:t>easy to measure</a:t>
            </a:r>
            <a:r>
              <a:rPr lang="en-GB" sz="1400" dirty="0"/>
              <a:t> and </a:t>
            </a:r>
            <a:r>
              <a:rPr lang="en-GB" sz="1400" b="1" dirty="0"/>
              <a:t>biologically linked</a:t>
            </a:r>
            <a:r>
              <a:rPr lang="en-GB" sz="1400" dirty="0"/>
              <a:t> to aflatoxin formation.</a:t>
            </a:r>
          </a:p>
        </p:txBody>
      </p:sp>
      <p:pic>
        <p:nvPicPr>
          <p:cNvPr id="10" name="Picture 9" descr="A pile of dried red peppers&#10;&#10;AI-generated content may be incorrect.">
            <a:extLst>
              <a:ext uri="{FF2B5EF4-FFF2-40B4-BE49-F238E27FC236}">
                <a16:creationId xmlns:a16="http://schemas.microsoft.com/office/drawing/2014/main" id="{16256AE2-B71A-F82D-87C9-3B4478AD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426" y="2314221"/>
            <a:ext cx="2481526" cy="330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2F49-499A-6290-ACA6-A9499EDB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Benefits of Our Approach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5BA3-45DC-0BBC-988E-55DA4AF4B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Advantages of Predicting Aflatoxin Using Measurable Factors &amp; ML:</a:t>
            </a:r>
          </a:p>
          <a:p>
            <a:br>
              <a:rPr lang="en-GB" dirty="0"/>
            </a:br>
            <a:r>
              <a:rPr lang="en-GB" dirty="0"/>
              <a:t>• </a:t>
            </a:r>
            <a:r>
              <a:rPr lang="en-GB" b="1" dirty="0"/>
              <a:t>Early Detection:</a:t>
            </a:r>
            <a:r>
              <a:rPr lang="en-GB" dirty="0"/>
              <a:t> Identify high-risk chili </a:t>
            </a:r>
            <a:r>
              <a:rPr lang="en-GB" b="1" dirty="0"/>
              <a:t>before invisible contamination</a:t>
            </a:r>
            <a:r>
              <a:rPr lang="en-GB" dirty="0"/>
              <a:t> occurs.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</a:t>
            </a:r>
            <a:r>
              <a:rPr lang="en-GB" b="1" dirty="0"/>
              <a:t>Practical &amp; Low-Cost:</a:t>
            </a:r>
            <a:r>
              <a:rPr lang="en-GB" dirty="0"/>
              <a:t> No expensive lab equipment required for routine checks.</a:t>
            </a:r>
            <a:br>
              <a:rPr lang="en-GB" dirty="0"/>
            </a:br>
            <a:br>
              <a:rPr lang="en-GB" b="1" dirty="0"/>
            </a:br>
            <a:r>
              <a:rPr lang="en-GB" dirty="0"/>
              <a:t>• </a:t>
            </a:r>
            <a:r>
              <a:rPr lang="en-GB" b="1" dirty="0"/>
              <a:t>Prevention-Oriented:</a:t>
            </a:r>
            <a:r>
              <a:rPr lang="en-GB" dirty="0"/>
              <a:t> Helps take </a:t>
            </a:r>
            <a:r>
              <a:rPr lang="en-GB" b="1" dirty="0"/>
              <a:t>preventive actions</a:t>
            </a:r>
            <a:r>
              <a:rPr lang="en-GB" dirty="0"/>
              <a:t> to reduce contamination.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</a:t>
            </a:r>
            <a:r>
              <a:rPr lang="en-GB" b="1" dirty="0"/>
              <a:t>Scalable &amp; Adaptable:</a:t>
            </a:r>
            <a:r>
              <a:rPr lang="en-GB" dirty="0"/>
              <a:t> Can be extended to </a:t>
            </a:r>
            <a:r>
              <a:rPr lang="en-GB" b="1" dirty="0"/>
              <a:t>other crops or storage conditions</a:t>
            </a:r>
            <a:r>
              <a:rPr lang="en-GB" dirty="0"/>
              <a:t> in the future.</a:t>
            </a:r>
          </a:p>
          <a:p>
            <a:r>
              <a:rPr lang="en-GB" dirty="0"/>
              <a:t>• Implemented via </a:t>
            </a:r>
            <a:r>
              <a:rPr lang="en-GB"/>
              <a:t>mobile application.</a:t>
            </a:r>
            <a:br>
              <a:rPr lang="en-GB" dirty="0"/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B7C7E-4184-BA64-9CFB-E58F78FE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339D7-0EEE-624B-C4D9-37E2D6CDB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EABC-D423-0384-279A-26133F50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433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FDCD1-F8AE-7130-A818-FDDB9E27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EFF51-2C7D-75C3-CD11-90B44229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698EB-06F4-E0DC-3E19-D14041B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t>5</a:t>
            </a:fld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A75BA-216B-960D-F9E7-61A2F99097A3}"/>
              </a:ext>
            </a:extLst>
          </p:cNvPr>
          <p:cNvSpPr txBox="1"/>
          <p:nvPr/>
        </p:nvSpPr>
        <p:spPr>
          <a:xfrm>
            <a:off x="4275666" y="2967335"/>
            <a:ext cx="364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38742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824_TF22581678_Win32" id="{08358F14-060A-461C-80DE-1C87BD2E32CF}" vid="{8902EC5B-2701-4F66-A3FA-65678753DD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F71F79-8D13-4C55-9450-609041DE5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4B1648-C213-44D3-9464-4287A4D41EE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96B531D-03AC-47F6-A16F-C6773C191BB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 design</Template>
  <TotalTime>35</TotalTime>
  <Words>321</Words>
  <Application>Microsoft Office PowerPoint</Application>
  <PresentationFormat>Widescreen</PresentationFormat>
  <Paragraphs>37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RetrospectVTI</vt:lpstr>
      <vt:lpstr>Undergraduate Project </vt:lpstr>
      <vt:lpstr>Early Prediction of Aflatoxin Contamination in Red Chili Using ML</vt:lpstr>
      <vt:lpstr>Why This Approach &amp; Factors</vt:lpstr>
      <vt:lpstr>Benefits of Our Approach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 Anojan</dc:creator>
  <cp:lastModifiedBy>U Anojan</cp:lastModifiedBy>
  <cp:revision>1</cp:revision>
  <dcterms:created xsi:type="dcterms:W3CDTF">2025-11-07T04:11:19Z</dcterms:created>
  <dcterms:modified xsi:type="dcterms:W3CDTF">2025-11-07T04:46:20Z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